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CD-4C66-BE2A-588D30E34EEC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CD-4C66-BE2A-588D30E34EEC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CD-4C66-BE2A-588D30E34EE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0CD-4C66-BE2A-588D30E34EE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F0CD-4C66-BE2A-588D30E34EE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0CD-4C66-BE2A-588D30E34EE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CD-4C66-BE2A-588D30E34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 ($K)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Groceries</c:v>
                </c:pt>
                <c:pt idx="1">
                  <c:v>Restaurants</c:v>
                </c:pt>
                <c:pt idx="2">
                  <c:v>Gas Stations</c:v>
                </c:pt>
                <c:pt idx="3">
                  <c:v>Retail Stores</c:v>
                </c:pt>
                <c:pt idx="4">
                  <c:v>Travel</c:v>
                </c:pt>
                <c:pt idx="5">
                  <c:v>Healthcare</c:v>
                </c:pt>
                <c:pt idx="6">
                  <c:v>Utilities</c:v>
                </c:pt>
                <c:pt idx="7">
                  <c:v>Entertainment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840</c:v>
                </c:pt>
                <c:pt idx="1">
                  <c:v>610</c:v>
                </c:pt>
                <c:pt idx="2">
                  <c:v>520</c:v>
                </c:pt>
                <c:pt idx="3">
                  <c:v>490</c:v>
                </c:pt>
                <c:pt idx="4">
                  <c:v>380</c:v>
                </c:pt>
                <c:pt idx="5">
                  <c:v>310</c:v>
                </c:pt>
                <c:pt idx="6">
                  <c:v>270</c:v>
                </c:pt>
                <c:pt idx="7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2D-444D-AD32-16E25F3CED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Groceries</c:v>
                </c:pt>
                <c:pt idx="1">
                  <c:v>Restaurants</c:v>
                </c:pt>
                <c:pt idx="2">
                  <c:v>Gas Stations</c:v>
                </c:pt>
                <c:pt idx="3">
                  <c:v>Retail Stores</c:v>
                </c:pt>
                <c:pt idx="4">
                  <c:v>Travel</c:v>
                </c:pt>
                <c:pt idx="5">
                  <c:v>Healthcare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</c:v>
                </c:pt>
                <c:pt idx="1">
                  <c:v>3800</c:v>
                </c:pt>
                <c:pt idx="2">
                  <c:v>2600</c:v>
                </c:pt>
                <c:pt idx="3">
                  <c:v>2100</c:v>
                </c:pt>
                <c:pt idx="4">
                  <c:v>950</c:v>
                </c:pt>
                <c:pt idx="5">
                  <c:v>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C4-4533-8600-E79C7BAA3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Value ($)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Groceries</c:v>
                </c:pt>
                <c:pt idx="1">
                  <c:v>Restaurants</c:v>
                </c:pt>
                <c:pt idx="2">
                  <c:v>Gas Stations</c:v>
                </c:pt>
                <c:pt idx="3">
                  <c:v>Retail Stores</c:v>
                </c:pt>
                <c:pt idx="4">
                  <c:v>Travel</c:v>
                </c:pt>
                <c:pt idx="5">
                  <c:v>Healthcare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38</c:v>
                </c:pt>
                <c:pt idx="2">
                  <c:v>62</c:v>
                </c:pt>
                <c:pt idx="3">
                  <c:v>110</c:v>
                </c:pt>
                <c:pt idx="4">
                  <c:v>315</c:v>
                </c:pt>
                <c:pt idx="5">
                  <c:v>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C2-4DDC-9284-213F7A196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Groceries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</c:v>
                </c:pt>
                <c:pt idx="1">
                  <c:v>TX</c:v>
                </c:pt>
                <c:pt idx="2">
                  <c:v>NY</c:v>
                </c:pt>
                <c:pt idx="3">
                  <c:v>FL</c:v>
                </c:pt>
                <c:pt idx="4">
                  <c:v>IL</c:v>
                </c:pt>
                <c:pt idx="5">
                  <c:v>OH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175</c:v>
                </c:pt>
                <c:pt idx="3">
                  <c:v>155</c:v>
                </c:pt>
                <c:pt idx="4">
                  <c:v>130</c:v>
                </c:pt>
                <c:pt idx="5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DC-4992-8ED9-1E8877DA9D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</c:v>
                </c:pt>
                <c:pt idx="1">
                  <c:v>TX</c:v>
                </c:pt>
                <c:pt idx="2">
                  <c:v>NY</c:v>
                </c:pt>
                <c:pt idx="3">
                  <c:v>FL</c:v>
                </c:pt>
                <c:pt idx="4">
                  <c:v>IL</c:v>
                </c:pt>
                <c:pt idx="5">
                  <c:v>OH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155</c:v>
                </c:pt>
                <c:pt idx="1">
                  <c:v>140</c:v>
                </c:pt>
                <c:pt idx="2">
                  <c:v>170</c:v>
                </c:pt>
                <c:pt idx="3">
                  <c:v>120</c:v>
                </c:pt>
                <c:pt idx="4">
                  <c:v>115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DC-4992-8ED9-1E8877DA9D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Travel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</c:v>
                </c:pt>
                <c:pt idx="1">
                  <c:v>TX</c:v>
                </c:pt>
                <c:pt idx="2">
                  <c:v>NY</c:v>
                </c:pt>
                <c:pt idx="3">
                  <c:v>FL</c:v>
                </c:pt>
                <c:pt idx="4">
                  <c:v>IL</c:v>
                </c:pt>
                <c:pt idx="5">
                  <c:v>OH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95</c:v>
                </c:pt>
                <c:pt idx="1">
                  <c:v>70</c:v>
                </c:pt>
                <c:pt idx="2">
                  <c:v>110</c:v>
                </c:pt>
                <c:pt idx="3">
                  <c:v>130</c:v>
                </c:pt>
                <c:pt idx="4">
                  <c:v>65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DC-4992-8ED9-1E8877DA9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Groceries</c:v>
                </c:pt>
                <c:pt idx="1">
                  <c:v>Restaurants</c:v>
                </c:pt>
                <c:pt idx="2">
                  <c:v>Travel</c:v>
                </c:pt>
                <c:pt idx="3">
                  <c:v>Retail</c:v>
                </c:pt>
                <c:pt idx="4">
                  <c:v>Gas</c:v>
                </c:pt>
                <c:pt idx="5">
                  <c:v>Healthcare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</c:v>
                </c:pt>
                <c:pt idx="1">
                  <c:v>240</c:v>
                </c:pt>
                <c:pt idx="2">
                  <c:v>280</c:v>
                </c:pt>
                <c:pt idx="3">
                  <c:v>200</c:v>
                </c:pt>
                <c:pt idx="4">
                  <c:v>180</c:v>
                </c:pt>
                <c:pt idx="5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EC-4D43-A93A-A4228058D7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Groceries</c:v>
                </c:pt>
                <c:pt idx="1">
                  <c:v>Restaurants</c:v>
                </c:pt>
                <c:pt idx="2">
                  <c:v>Travel</c:v>
                </c:pt>
                <c:pt idx="3">
                  <c:v>Retail</c:v>
                </c:pt>
                <c:pt idx="4">
                  <c:v>Gas</c:v>
                </c:pt>
                <c:pt idx="5">
                  <c:v>Healthcare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280</c:v>
                </c:pt>
                <c:pt idx="1">
                  <c:v>210</c:v>
                </c:pt>
                <c:pt idx="2">
                  <c:v>145</c:v>
                </c:pt>
                <c:pt idx="3">
                  <c:v>185</c:v>
                </c:pt>
                <c:pt idx="4">
                  <c:v>160</c:v>
                </c:pt>
                <c:pt idx="5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EC-4D43-A93A-A4228058D7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Groceries</c:v>
                </c:pt>
                <c:pt idx="1">
                  <c:v>Restaurants</c:v>
                </c:pt>
                <c:pt idx="2">
                  <c:v>Travel</c:v>
                </c:pt>
                <c:pt idx="3">
                  <c:v>Retail</c:v>
                </c:pt>
                <c:pt idx="4">
                  <c:v>Gas</c:v>
                </c:pt>
                <c:pt idx="5">
                  <c:v>Healthcare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220</c:v>
                </c:pt>
                <c:pt idx="1">
                  <c:v>160</c:v>
                </c:pt>
                <c:pt idx="2">
                  <c:v>85</c:v>
                </c:pt>
                <c:pt idx="3">
                  <c:v>155</c:v>
                </c:pt>
                <c:pt idx="4">
                  <c:v>130</c:v>
                </c:pt>
                <c:pt idx="5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EC-4D43-A93A-A4228058D7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85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"/>
            <a:ext cx="1554480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AURORA BANK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Risk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  |  Spending Behavior  |  Strategic Insights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Confidential — Internal Use Only     |     2026 Portfolio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What Was the Goal?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73152" cy="132588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Identify Risky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Flag customers by debt-to-income ratio and credit score using standard retail banking indicators.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37360"/>
            <a:ext cx="73152" cy="132588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Understand Spending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Analyze transaction patterns by Merchant Category Code to reveal where customers spend.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00400"/>
            <a:ext cx="73152" cy="132588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Support Credit Decisions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Equip underwriting and product teams with data-driven customer profiles.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00400"/>
            <a:ext cx="73152" cy="132588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Improve Portfolio 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Enable proactive monitoring and targeted interventions to reduce default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Metrics Used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Risk Segmentation Rules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840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60020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73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Debt-to-Income Ratio (DTI)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DTI = Total Debt ÷ Annual Income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Globally accepted indicator of financial leverage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840480" cy="1234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0175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90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Credit 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FICO-style score reflecting payment history, utilization &amp; credit behavior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00200"/>
          <a:ext cx="4206240" cy="2194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🟢 Low 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DTI &lt; 0.30 AND Credit Score ≥ 700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🟡 Medium 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DTI 0.30–0.50 OR Credit Score 600–699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🔴 High 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DTI &gt; 0.50 OR Credit Score &lt; 600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Based on globally accepted retail banking standards used by credit analysts and risk teams worldwide.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Distribution — Portfolio Health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47548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32588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325880"/>
            <a:ext cx="73152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Low Risk  ~45%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728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Eligible for premium lending &amp; rewards products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51460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514600"/>
            <a:ext cx="73152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2587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Medium Risk  ~35%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291693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Needs active monitoring &amp; structured repayment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703320"/>
            <a:ext cx="3474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0" y="370332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3776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High Risk  ~20%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41056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Credit limit review; default risk mitigation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High-Risk Customer Profile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Customers flagged by DTI &gt; 0.50 OR Credit Score &lt; 600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2377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 ID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Income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Debt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DTI Ratio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Credit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C-10042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$42,000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$31,000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0.74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542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C-10087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$55,000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$38,500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0.70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578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C-10123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$38,000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$24,000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0.63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591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C-10215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$61,000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$41,000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0.67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563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C-10309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$29,000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$22,000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0.76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510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Common Characteristics of High-Risk Customers: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High leverage relative to income  </a:t>
            </a:r>
            <a:r>
              <a:rPr lang="en-US" sz="1100" dirty="0">
                <a:solidFill>
                  <a:srgbClr val="C89B3C"/>
                </a:solidFill>
              </a:rPr>
              <a:t>  |  </a:t>
            </a:r>
            <a:r>
              <a:rPr lang="en-US" sz="1100" dirty="0">
                <a:solidFill>
                  <a:srgbClr val="64748B"/>
                </a:solidFill>
              </a:rPr>
              <a:t>  Weak credit behavior patterns  </a:t>
            </a:r>
            <a:r>
              <a:rPr lang="en-US" sz="1100" dirty="0">
                <a:solidFill>
                  <a:srgbClr val="C89B3C"/>
                </a:solidFill>
              </a:rPr>
              <a:t>  |  </a:t>
            </a:r>
            <a:r>
              <a:rPr lang="en-US" sz="1100" dirty="0">
                <a:solidFill>
                  <a:srgbClr val="64748B"/>
                </a:solidFill>
              </a:rPr>
              <a:t>  Require active monitoring &amp; credit limit review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Spend by Merchant Category (MCC)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Where customer money flows — drives revenue and interchange income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80552887"/>
              </p:ext>
            </p:extLst>
          </p:nvPr>
        </p:nvGraphicFramePr>
        <p:xfrm>
          <a:off x="365760" y="155448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vs. Value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Transaction Count by Category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Avg. Transaction Value by Category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50876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54880" y="150876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💡  Groceries = high frequency / low value → engagement driver.  Travel = low frequency / high value → revenue driver.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by Geographic Location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Regional spending differences guide branch strategy and localized campaigns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5448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Behavior by Risk Segment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What do high-risk customers spend on? — A behavioral lens for credit strategy.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54480"/>
          <a:ext cx="84124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</a:rPr>
              <a:t>🚨  Watch for: High-risk customers with elevated travel or cash-equivalent spending — early fraud warning signal.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Strategic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075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Portfolio Health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7335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Risk segmentation reveals exposure to potential defaults and helps quantify capital provisioning requirements before losses occur.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0515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468880"/>
            <a:ext cx="73152" cy="105156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5420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256032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Revenue Drivers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90779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Groceries and restaurants drive the highest transaction frequency, while travel and retail generate the largest individual transaction values.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7764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17320" y="379476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Signals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14223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High-risk customers show elevated spending in cash-like and luxury categories — a behavioral pattern linked to financial instability and potential fraud.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2070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Credit Risk Strategy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" y="180136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78308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Tighten approval for DTI &gt; 50%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28072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78892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Monitor low credit score customers closely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381304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7947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Adjust credit limits dynamically by risk tier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2070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Product Strategy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56432" y="18013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730752" y="178308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Premium products for Low-Risk customers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56432" y="280720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730752" y="278892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Structured repayment plans for Medium 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56432" y="381304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730752" y="37947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Behavioral monitoring &amp; intervention for High Risk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18872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1188720"/>
            <a:ext cx="2743200" cy="4572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12070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Marketing Strategy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28232" y="1801368"/>
            <a:ext cx="201168" cy="20116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178308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Target high-frequency MCCs for cashback rewards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28232" y="2807208"/>
            <a:ext cx="201168" cy="20116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9" name="Text 27"/>
          <p:cNvSpPr/>
          <p:nvPr/>
        </p:nvSpPr>
        <p:spPr>
          <a:xfrm>
            <a:off x="6702552" y="278892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Partner with top spend categories (groceries, dining)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28232" y="3813048"/>
            <a:ext cx="201168" cy="20116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1" name="Text 29"/>
          <p:cNvSpPr/>
          <p:nvPr/>
        </p:nvSpPr>
        <p:spPr>
          <a:xfrm>
            <a:off x="6702552" y="37947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Regional campaigns based on geographic spend data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B3C"/>
                </a:solidFill>
              </a:rPr>
              <a:t>What This Analysis Achieves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B3C"/>
                </a:solidFill>
              </a:rPr>
              <a:t>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Identified high-risk customers using DTI and credit score — globally accepted retail banking standards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54864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0487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B3C"/>
                </a:solidFill>
              </a:rPr>
              <a:t>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Quantified portfolio health across Low, Medium, and High-risk segments for management reporting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8412480" cy="54864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2666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B3C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02666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Mapped customer spending behavior across 8+ Merchant Category Codes by volume and frequency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8412480" cy="54864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484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B3C"/>
                </a:solidFill>
              </a:rPr>
              <a:t>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6484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Linked spending patterns to risk profiles to surface early fraud and default warning signals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24528"/>
            <a:ext cx="8412480" cy="54864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702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9B3C"/>
                </a:solidFill>
              </a:rPr>
              <a:t>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2702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Delivered actionable strategy for credit, product, and marketing teams backed by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</a:rPr>
              <a:t>Aurora Bank  |  Customer Risk &amp; Spending Analysis  |  Confidential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662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Bank Customer Risk &amp; Spending Analysis</dc:title>
  <dc:subject>PptxGenJS Presentation</dc:subject>
  <dc:creator>PptxGenJS</dc:creator>
  <cp:lastModifiedBy>Faith Adedolapo Olayiwola</cp:lastModifiedBy>
  <cp:revision>3</cp:revision>
  <dcterms:created xsi:type="dcterms:W3CDTF">2026-02-22T09:28:34Z</dcterms:created>
  <dcterms:modified xsi:type="dcterms:W3CDTF">2026-02-22T11:27:16Z</dcterms:modified>
</cp:coreProperties>
</file>